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8" r:id="rId6"/>
    <p:sldId id="261" r:id="rId7"/>
    <p:sldId id="287" r:id="rId8"/>
    <p:sldId id="286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6755" y="1350038"/>
            <a:ext cx="8748889" cy="3357428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bg1">
                    <a:lumMod val="95000"/>
                  </a:schemeClr>
                </a:solidFill>
              </a:rPr>
              <a:t>Statistical Learning and Data Analysis</a:t>
            </a:r>
            <a:br>
              <a:rPr lang="en-US" sz="48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4800" dirty="0">
                <a:solidFill>
                  <a:schemeClr val="bg1">
                    <a:lumMod val="95000"/>
                  </a:schemeClr>
                </a:solidFill>
              </a:rPr>
              <a:t>Assignment 3: Regression and Data Simulation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IN" sz="4000" dirty="0"/>
              <a:t>Objectives of the Assignment</a:t>
            </a:r>
            <a:endParaRPr lang="en-US" sz="40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This assignment studies different regression techniques using simulated datasets.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Main goals: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Evaluate linear regression using data with known structure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Verify if important predictors can be identified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Analyze model assumptions through regression diagnostics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Study regularization techniques (Ridge, Lasso, Elastic Net)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Understand non-linear regression and the bias–variance trade-off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pPr algn="ctr"/>
            <a:r>
              <a:rPr lang="en-IN" sz="4000" dirty="0"/>
              <a:t>Data Simulation</a:t>
            </a:r>
            <a:endParaRPr lang="en-US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sz="3200" dirty="0"/>
              <a:t>We generate a dataset with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Where</a:t>
            </a:r>
            <a:endParaRPr lang="en-US" sz="3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 = 300 observations</a:t>
            </a:r>
          </a:p>
          <a:p>
            <a:r>
              <a:rPr lang="en-US" sz="2400" dirty="0"/>
              <a:t>p = 10 </a:t>
            </a:r>
            <a:r>
              <a:rPr lang="en-US" sz="2400" dirty="0" err="1"/>
              <a:t>predictorsa</a:t>
            </a:r>
            <a:endParaRPr lang="en-US" sz="2400" dirty="0"/>
          </a:p>
          <a:p>
            <a:r>
              <a:rPr lang="en-US" sz="2400" dirty="0"/>
              <a:t>The data generating model is:</a:t>
            </a:r>
          </a:p>
          <a:p>
            <a:r>
              <a:rPr lang="en-US" sz="2400" dirty="0"/>
              <a:t>y = β0 + β1X1 + β2X2 + ... + β10X10 + ε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Some predictors have strong effects</a:t>
            </a:r>
          </a:p>
          <a:p>
            <a:r>
              <a:rPr lang="en-US" sz="2400" dirty="0"/>
              <a:t>Some have small effects</a:t>
            </a:r>
          </a:p>
          <a:p>
            <a:r>
              <a:rPr lang="en-US" sz="2400" dirty="0"/>
              <a:t>Others have zero coefficients (noise variables)</a:t>
            </a:r>
          </a:p>
          <a:p>
            <a:r>
              <a:rPr lang="en-US" sz="2400" dirty="0"/>
              <a:t>Gaussian noise is added to simulate real-world uncertainty.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31959BC-34C5-273D-82E9-CB94C387C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/>
              <a:t>Linear Regression Results (OLS)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13A14B-33A8-7B26-AE3C-672A6226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4</a:t>
            </a:fld>
            <a:endParaRPr lang="en-US" noProof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36C4378-33A2-1753-60D5-BFE51EF6CF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7131957" cy="40932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Ordinary Least Squares regression model was fitted to estimate the relationship between predictors and the response.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Main observations:</a:t>
            </a:r>
          </a:p>
          <a:p>
            <a:pPr marL="0" indent="0">
              <a:buNone/>
            </a:pPr>
            <a:r>
              <a:rPr lang="en-US" dirty="0"/>
              <a:t>Strong predictors (X1, X2, X3) are highly significant</a:t>
            </a:r>
          </a:p>
          <a:p>
            <a:pPr marL="0" indent="0">
              <a:buNone/>
            </a:pPr>
            <a:r>
              <a:rPr lang="en-US" dirty="0"/>
              <a:t>Moderate predictors (X4, X5) show weaker but detectable effects</a:t>
            </a:r>
          </a:p>
          <a:p>
            <a:pPr marL="0" indent="0">
              <a:buNone/>
            </a:pPr>
            <a:r>
              <a:rPr lang="en-US" dirty="0"/>
              <a:t>Noise variables (X6–X10) are correctly identified as non-significant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Conclusion:</a:t>
            </a:r>
            <a:br>
              <a:rPr lang="en-US" dirty="0"/>
            </a:br>
            <a:r>
              <a:rPr lang="en-US" dirty="0"/>
              <a:t>The linear regression model successfully recovers the true structure of the simulated data.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348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2922-E67F-6178-E3A7-7CCC50EA0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Regression Results (OLS)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ECF65A-900B-B1B6-AAD1-AD677659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31EAB-49C9-310D-ED6F-7C9367020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535531"/>
          </a:xfrm>
        </p:spPr>
        <p:txBody>
          <a:bodyPr/>
          <a:lstStyle/>
          <a:p>
            <a:r>
              <a:rPr lang="en-IN" dirty="0"/>
              <a:t>OLS Regression Results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091DA-8016-26FD-B1A3-08066AEB3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535531"/>
          </a:xfrm>
        </p:spPr>
        <p:txBody>
          <a:bodyPr>
            <a:normAutofit fontScale="92500"/>
          </a:bodyPr>
          <a:lstStyle/>
          <a:p>
            <a:r>
              <a:rPr lang="en-US" dirty="0"/>
              <a:t>True vs Estimated Coefficients (OLS) plot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1C60436-0724-2DAF-97A0-DE8B7E69B0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70588" y="2216151"/>
            <a:ext cx="5446000" cy="4007368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C1F3FAD-D68F-5279-8859-C1CE60B2216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96000" y="2216149"/>
            <a:ext cx="5825411" cy="400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9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31BD-ECB9-DC49-6B87-FC160E70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Regression Diagnostics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187CF3-EDAE-9694-7D42-59DF6571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A4F68-5836-53EF-35BC-AF8B0644A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880" y="1681163"/>
            <a:ext cx="5157787" cy="823912"/>
          </a:xfrm>
        </p:spPr>
        <p:txBody>
          <a:bodyPr/>
          <a:lstStyle/>
          <a:p>
            <a:r>
              <a:rPr lang="en-US" dirty="0"/>
              <a:t>Regression diagnostics are used to verify model assumptions.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DF7D2-F70C-F79E-FD23-A6824DB4A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5880" y="2505075"/>
            <a:ext cx="5157787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Key observations:</a:t>
            </a:r>
          </a:p>
          <a:p>
            <a:r>
              <a:rPr lang="en-US" dirty="0"/>
              <a:t>Residuals vs Fitted → No systematic pattern, suggesting linearity</a:t>
            </a:r>
          </a:p>
          <a:p>
            <a:r>
              <a:rPr lang="en-US" dirty="0"/>
              <a:t>Q-Q Plot → Residuals approximately follow the normal distribution</a:t>
            </a:r>
          </a:p>
          <a:p>
            <a:r>
              <a:rPr lang="en-US" dirty="0"/>
              <a:t>Scale-Location → Variance appears constant</a:t>
            </a:r>
          </a:p>
          <a:p>
            <a:r>
              <a:rPr lang="en-US" dirty="0"/>
              <a:t>Residuals vs Leverage → No influential outliers detected</a:t>
            </a:r>
          </a:p>
          <a:p>
            <a:pPr marL="0" indent="0">
              <a:buNone/>
            </a:pPr>
            <a:r>
              <a:rPr lang="en-US" dirty="0"/>
              <a:t>Conclusion:</a:t>
            </a:r>
            <a:br>
              <a:rPr lang="en-US" dirty="0"/>
            </a:br>
            <a:r>
              <a:rPr lang="en-US" dirty="0"/>
              <a:t>The OLS model assumptions are reasonably satisfied.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5326AFC-F247-D966-FE48-FE3E4FC9519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701005" y="1390261"/>
            <a:ext cx="6316824" cy="479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22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AEC1-B073-E9E7-29D9-A8F11DC2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Ridge Regression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1563B7-EA9F-39E2-1C62-0815FF0C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DDB3B-8E58-4B24-72B1-320DABDFA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549" y="1578526"/>
            <a:ext cx="5157787" cy="823912"/>
          </a:xfrm>
        </p:spPr>
        <p:txBody>
          <a:bodyPr/>
          <a:lstStyle/>
          <a:p>
            <a:r>
              <a:rPr lang="en-US" dirty="0"/>
              <a:t>Ridge regression applies an L2 penalty on the coefficients.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9B9D70-8BBA-E8A6-DB84-D3A6437E7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1904" y="2505075"/>
            <a:ext cx="5157787" cy="36845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Objective:</a:t>
            </a:r>
          </a:p>
          <a:p>
            <a:pPr marL="0" indent="0">
              <a:buNone/>
            </a:pPr>
            <a:r>
              <a:rPr lang="en-US" dirty="0"/>
              <a:t>Minimize:</a:t>
            </a:r>
            <a:br>
              <a:rPr lang="en-US" dirty="0"/>
            </a:br>
            <a:r>
              <a:rPr lang="en-US" dirty="0"/>
              <a:t>RSS + λ Σ β²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Observations:</a:t>
            </a:r>
          </a:p>
          <a:p>
            <a:pPr marL="0" indent="0">
              <a:buNone/>
            </a:pPr>
            <a:r>
              <a:rPr lang="en-US" dirty="0"/>
              <a:t>All coefficients shrink toward zero</a:t>
            </a:r>
          </a:p>
          <a:p>
            <a:pPr marL="0" indent="0">
              <a:buNone/>
            </a:pPr>
            <a:r>
              <a:rPr lang="en-US" dirty="0"/>
              <a:t>Strong predictors remain relatively large</a:t>
            </a:r>
          </a:p>
          <a:p>
            <a:pPr marL="0" indent="0">
              <a:buNone/>
            </a:pPr>
            <a:r>
              <a:rPr lang="en-US" dirty="0"/>
              <a:t>Noise predictors are reduced but not eliminated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Conclusion:</a:t>
            </a:r>
            <a:br>
              <a:rPr lang="en-US" dirty="0"/>
            </a:br>
            <a:r>
              <a:rPr lang="en-US" dirty="0"/>
              <a:t>Ridge improves model stability but does not perform variable selection.</a:t>
            </a:r>
          </a:p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FCE3148-A8E5-D698-AD64-FECC443857E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700713" y="1819902"/>
            <a:ext cx="6289675" cy="412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54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EE29-E5AB-778B-AF8A-8E565010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9CD2-04C0-1772-5549-785EFA0EB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IN" sz="4000" dirty="0"/>
              <a:t>Lasso Regression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19ED8-5FD0-23FE-69DD-149E91D6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FF1FE-7249-8262-EA54-B04854AB7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549" y="1578526"/>
            <a:ext cx="5157787" cy="823912"/>
          </a:xfrm>
        </p:spPr>
        <p:txBody>
          <a:bodyPr/>
          <a:lstStyle/>
          <a:p>
            <a:r>
              <a:rPr lang="en-US" dirty="0"/>
              <a:t>Lasso regression uses an L1 penalty on the coefficients.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C168B8-A4A8-873D-5303-CB73E40B1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1904" y="2505075"/>
            <a:ext cx="5157787" cy="368458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Objective:</a:t>
            </a:r>
          </a:p>
          <a:p>
            <a:pPr marL="0" indent="0">
              <a:buNone/>
            </a:pPr>
            <a:r>
              <a:rPr lang="en-IN" dirty="0"/>
              <a:t>RSS + </a:t>
            </a:r>
            <a:r>
              <a:rPr lang="el-GR" dirty="0"/>
              <a:t>λ Σ |β|</a:t>
            </a:r>
            <a:endParaRPr lang="en-US" dirty="0"/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r>
              <a:rPr lang="en-IN" dirty="0"/>
              <a:t>Observations:</a:t>
            </a:r>
          </a:p>
          <a:p>
            <a:pPr marL="0" indent="0">
              <a:buNone/>
            </a:pPr>
            <a:r>
              <a:rPr lang="en-IN" dirty="0"/>
              <a:t>Some coefficients shrink exactly to zero</a:t>
            </a:r>
          </a:p>
          <a:p>
            <a:pPr marL="0" indent="0">
              <a:buNone/>
            </a:pPr>
            <a:r>
              <a:rPr lang="en-IN" dirty="0"/>
              <a:t>Noise variables are removed from the model</a:t>
            </a:r>
          </a:p>
          <a:p>
            <a:pPr marL="0" indent="0">
              <a:buNone/>
            </a:pPr>
            <a:r>
              <a:rPr lang="en-IN" dirty="0"/>
              <a:t>Strong predictors remain non-zero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Conclusion:</a:t>
            </a:r>
            <a:br>
              <a:rPr lang="en-IN" dirty="0"/>
            </a:br>
            <a:r>
              <a:rPr lang="en-IN" dirty="0"/>
              <a:t>Lasso performs automatic feature selection.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A71C7BA-DCB0-D36B-0ABE-4CD76D8271C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654351" y="1578526"/>
            <a:ext cx="6335745" cy="461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2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7472C17-BC71-30F4-876B-78DF6391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IN" sz="4000" dirty="0"/>
              <a:t>Elastic Neta</a:t>
            </a:r>
            <a:endParaRPr 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2EF1E6-A297-4219-EF23-D577A4A4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9</a:t>
            </a:fld>
            <a:endParaRPr lang="en-US" noProof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EFBA666-59ED-628A-5BC0-B0730651A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Elastic Net combines both Ridge and Lasso penalties.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Penalty function:</a:t>
            </a:r>
          </a:p>
          <a:p>
            <a:pPr marL="0" indent="0">
              <a:buNone/>
            </a:pPr>
            <a:r>
              <a:rPr lang="en-US" sz="2000" dirty="0"/>
              <a:t>λ ( α Σ |β| + (1−α) Σ β² 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Observations:</a:t>
            </a:r>
          </a:p>
          <a:p>
            <a:pPr marL="0" indent="0">
              <a:buNone/>
            </a:pPr>
            <a:r>
              <a:rPr lang="en-US" sz="2000" dirty="0"/>
              <a:t>Balances shrinkage and variable selection</a:t>
            </a:r>
          </a:p>
          <a:p>
            <a:pPr marL="0" indent="0">
              <a:buNone/>
            </a:pPr>
            <a:r>
              <a:rPr lang="en-US" sz="2000" dirty="0"/>
              <a:t>Provides more stable estimates when predictors are correlated</a:t>
            </a:r>
          </a:p>
          <a:p>
            <a:pPr marL="0" indent="0">
              <a:buNone/>
            </a:pPr>
            <a:r>
              <a:rPr lang="en-US" sz="2000" dirty="0"/>
              <a:t>In this simulation it behaves similarly to Lasso.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88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95216C2-F129-C2D0-122F-EB82A751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IN" dirty="0"/>
              <a:t>Comparison of Regularization Methods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123E24-5B08-EA64-879D-D7B211701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10</a:t>
            </a:fld>
            <a:endParaRPr lang="en-US" noProof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0EC10006-577A-5BE2-978B-648D850DC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/>
              <a:t>Comparison of regression models:</a:t>
            </a:r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/>
              <a:t>OLS</a:t>
            </a:r>
          </a:p>
          <a:p>
            <a:r>
              <a:rPr lang="en-US" sz="1500"/>
              <a:t>Accurate when assumptions hold</a:t>
            </a:r>
          </a:p>
          <a:p>
            <a:r>
              <a:rPr lang="en-US" sz="1500"/>
              <a:t>Higher variance</a:t>
            </a:r>
          </a:p>
          <a:p>
            <a:pPr marL="0" indent="0">
              <a:buNone/>
            </a:pPr>
            <a:r>
              <a:rPr lang="en-US" sz="1500"/>
              <a:t>Ridge</a:t>
            </a:r>
          </a:p>
          <a:p>
            <a:r>
              <a:rPr lang="en-US" sz="1500"/>
              <a:t>Reduces variance</a:t>
            </a:r>
          </a:p>
          <a:p>
            <a:r>
              <a:rPr lang="en-US" sz="1500"/>
              <a:t>Keeps all predictors</a:t>
            </a:r>
          </a:p>
          <a:p>
            <a:pPr marL="0" indent="0">
              <a:buNone/>
            </a:pPr>
            <a:r>
              <a:rPr lang="en-US" sz="1500"/>
              <a:t>Lasso</a:t>
            </a:r>
          </a:p>
          <a:p>
            <a:r>
              <a:rPr lang="en-US" sz="1500"/>
              <a:t>Performs variable selection</a:t>
            </a:r>
          </a:p>
          <a:p>
            <a:r>
              <a:rPr lang="en-US" sz="1500"/>
              <a:t>Produces sparse models</a:t>
            </a:r>
          </a:p>
          <a:p>
            <a:pPr marL="0" indent="0">
              <a:buNone/>
            </a:pPr>
            <a:r>
              <a:rPr lang="en-US" sz="1500"/>
              <a:t>Elastic Net</a:t>
            </a:r>
          </a:p>
          <a:p>
            <a:r>
              <a:rPr lang="en-US" sz="1500"/>
              <a:t>Combines advantages of Ridge and Lasso</a:t>
            </a:r>
          </a:p>
          <a:p>
            <a:endParaRPr lang="en-US" sz="1500"/>
          </a:p>
          <a:p>
            <a:pPr marL="0" indent="0">
              <a:buNone/>
            </a:pPr>
            <a:endParaRPr lang="en-US" sz="15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DE4F16-DC86-35AA-7E3B-82C56757D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4475" y="1444649"/>
            <a:ext cx="6733939" cy="45790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6521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C6E6-4DF0-46C3-6A89-164711EF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2C45470-199E-7A4D-153F-BC95BBBD2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IN" dirty="0"/>
              <a:t>Non-Linear Data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BA41A5-56C0-1712-BE9C-B86B7F32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11</a:t>
            </a:fld>
            <a:endParaRPr lang="en-US" noProof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C748861-DDEA-C3EE-4002-FB9EE80FC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>
            <a:normAutofit/>
          </a:bodyPr>
          <a:lstStyle/>
          <a:p>
            <a:r>
              <a:rPr lang="en-US" dirty="0"/>
              <a:t>A non-linear dataset was simulated using a sinusoidal function.</a:t>
            </a:r>
          </a:p>
          <a:p>
            <a:r>
              <a:rPr lang="en-US" dirty="0"/>
              <a:t>Characteristics:</a:t>
            </a:r>
          </a:p>
          <a:p>
            <a:r>
              <a:rPr lang="en-US" dirty="0"/>
              <a:t>n = 10 observations</a:t>
            </a:r>
          </a:p>
          <a:p>
            <a:r>
              <a:rPr lang="en-US" dirty="0"/>
              <a:t>Random noise added</a:t>
            </a:r>
          </a:p>
          <a:p>
            <a:r>
              <a:rPr lang="en-US" dirty="0"/>
              <a:t>The underlying pattern is difficult to estimate with limited data.</a:t>
            </a:r>
          </a:p>
          <a:p>
            <a:r>
              <a:rPr lang="en-US" dirty="0"/>
              <a:t>This dataset is used to study overfitting and model flexibility.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C0AECA-CA87-C937-1167-1EF5BBFFE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7256" y="1444649"/>
            <a:ext cx="7268377" cy="45790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0356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D1969-771D-5A43-0783-89C670C3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8DD2913-1ED9-98E2-FE4C-A7D9FB8C6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IN" dirty="0"/>
              <a:t>Polynomial Regression &amp; Overfitting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B16E70-12FF-59AB-A425-03FE5C27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12</a:t>
            </a:fld>
            <a:endParaRPr lang="en-US" noProof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F72162D-8FFC-AA7E-0B01-8A297714A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>
            <a:normAutofit/>
          </a:bodyPr>
          <a:lstStyle/>
          <a:p>
            <a:r>
              <a:rPr lang="en-US" dirty="0"/>
              <a:t>Two polynomial models were fitted:</a:t>
            </a:r>
          </a:p>
          <a:p>
            <a:r>
              <a:rPr lang="en-US" dirty="0"/>
              <a:t>Degree 3 model</a:t>
            </a:r>
          </a:p>
          <a:p>
            <a:r>
              <a:rPr lang="en-US" dirty="0"/>
              <a:t>Smooth curve</a:t>
            </a:r>
          </a:p>
          <a:p>
            <a:r>
              <a:rPr lang="en-US" dirty="0"/>
              <a:t>Better generalization</a:t>
            </a:r>
          </a:p>
          <a:p>
            <a:r>
              <a:rPr lang="en-US" dirty="0"/>
              <a:t>Degree 10 model</a:t>
            </a:r>
          </a:p>
          <a:p>
            <a:r>
              <a:rPr lang="en-US" dirty="0"/>
              <a:t>Passes through all training points</a:t>
            </a:r>
          </a:p>
          <a:p>
            <a:r>
              <a:rPr lang="en-US" dirty="0"/>
              <a:t>Strong oscillations</a:t>
            </a:r>
          </a:p>
          <a:p>
            <a:r>
              <a:rPr lang="en-US" dirty="0"/>
              <a:t>Clear example of overfitting</a:t>
            </a:r>
          </a:p>
          <a:p>
            <a:r>
              <a:rPr lang="en-US" dirty="0"/>
              <a:t>This illustrates the </a:t>
            </a:r>
            <a:r>
              <a:rPr lang="en-US" b="1" dirty="0"/>
              <a:t>bias–variance trade-off</a:t>
            </a:r>
            <a:r>
              <a:rPr lang="en-US" dirty="0"/>
              <a:t>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07F5D8-A08B-F4C9-6BDA-7495466E1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0338" y="1444625"/>
            <a:ext cx="7161911" cy="457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3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0293B6C-A518-3228-A4DA-AF525A58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/>
              <a:t>Effect of Sample Size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15E93A-12EA-A0E0-8CF1-7CAA53AC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13</a:t>
            </a:fld>
            <a:endParaRPr lang="en-US" noProof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D959F35-D60F-A93E-47FE-8102FB439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When sample size increases (n = 150):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2400" dirty="0"/>
              <a:t>Degree 10 model becomes smoother</a:t>
            </a:r>
          </a:p>
          <a:p>
            <a:pPr marL="0" indent="0">
              <a:buNone/>
            </a:pPr>
            <a:r>
              <a:rPr lang="en-US" sz="2400" dirty="0"/>
              <a:t>Overfitting decreases</a:t>
            </a:r>
          </a:p>
          <a:p>
            <a:pPr marL="0" indent="0">
              <a:buNone/>
            </a:pPr>
            <a:r>
              <a:rPr lang="en-US" sz="2400" dirty="0"/>
              <a:t>The model approximates the true function more accurately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FBC6558-F737-9628-DA4A-030080B44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SVR vs Decision Tree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2400" dirty="0"/>
              <a:t>Decision Tree → step-like predictions</a:t>
            </a:r>
          </a:p>
          <a:p>
            <a:pPr marL="0" indent="0">
              <a:buNone/>
            </a:pPr>
            <a:r>
              <a:rPr lang="en-US" sz="2400" dirty="0"/>
              <a:t>SVR → smoother approximation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Conclusion:</a:t>
            </a:r>
            <a:br>
              <a:rPr lang="en-US" sz="2800" dirty="0"/>
            </a:br>
            <a:r>
              <a:rPr lang="en-US" sz="2800" dirty="0"/>
              <a:t>More data helps complex models generalize better.</a:t>
            </a:r>
          </a:p>
        </p:txBody>
      </p:sp>
    </p:spTree>
    <p:extLst>
      <p:ext uri="{BB962C8B-B14F-4D97-AF65-F5344CB8AC3E}">
        <p14:creationId xmlns:p14="http://schemas.microsoft.com/office/powerpoint/2010/main" val="1831751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F7FC-E706-75E2-2EEB-3B873413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 of Sample Size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CA12C1-F8DA-2DDB-C410-9B966F461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611A7F-8146-E5B4-B6D3-293188A2A6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5943" y="1408922"/>
            <a:ext cx="5766318" cy="474928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3654355-82E4-BDC6-31E5-E29BFF592C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1" y="1408922"/>
            <a:ext cx="5900056" cy="47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69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634</Words>
  <Application>Microsoft Office PowerPoint</Application>
  <PresentationFormat>Widescreen</PresentationFormat>
  <Paragraphs>130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Trade Gothic LT Pro</vt:lpstr>
      <vt:lpstr>Trebuchet MS</vt:lpstr>
      <vt:lpstr>Office Theme</vt:lpstr>
      <vt:lpstr>Statistical Learning and Data Analysis Assignment 3: Regression and Data Simulation</vt:lpstr>
      <vt:lpstr>Objectives of the Assignment</vt:lpstr>
      <vt:lpstr>Data Simulation</vt:lpstr>
      <vt:lpstr>Linear Regression Results (OLS)</vt:lpstr>
      <vt:lpstr>Linear Regression Results (OLS)</vt:lpstr>
      <vt:lpstr>Regression Diagnostics</vt:lpstr>
      <vt:lpstr>Ridge Regression</vt:lpstr>
      <vt:lpstr>Lasso Regression</vt:lpstr>
      <vt:lpstr>Elastic Neta</vt:lpstr>
      <vt:lpstr>Comparison of Regularization Methods</vt:lpstr>
      <vt:lpstr>Non-Linear Data</vt:lpstr>
      <vt:lpstr>Polynomial Regression &amp; Overfitting</vt:lpstr>
      <vt:lpstr>Effect of Sample Size</vt:lpstr>
      <vt:lpstr>Effect of Sample Size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KUMAR TIWARI</dc:creator>
  <cp:lastModifiedBy>RAHUL KUMAR TIWARI</cp:lastModifiedBy>
  <cp:revision>1</cp:revision>
  <dcterms:created xsi:type="dcterms:W3CDTF">2026-03-06T18:04:31Z</dcterms:created>
  <dcterms:modified xsi:type="dcterms:W3CDTF">2026-03-06T18:53:47Z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2ad0b24d-6422-44b0-b3de-abb3a9e8c81a_Enabled">
    <vt:lpwstr>true</vt:lpwstr>
  </property>
  <property fmtid="{D5CDD505-2E9C-101B-9397-08002B2CF9AE}" pid="4" name="MSIP_Label_2ad0b24d-6422-44b0-b3de-abb3a9e8c81a_SetDate">
    <vt:lpwstr>2026-03-06T18:53:47Z</vt:lpwstr>
  </property>
  <property fmtid="{D5CDD505-2E9C-101B-9397-08002B2CF9AE}" pid="5" name="MSIP_Label_2ad0b24d-6422-44b0-b3de-abb3a9e8c81a_Method">
    <vt:lpwstr>Standard</vt:lpwstr>
  </property>
  <property fmtid="{D5CDD505-2E9C-101B-9397-08002B2CF9AE}" pid="6" name="MSIP_Label_2ad0b24d-6422-44b0-b3de-abb3a9e8c81a_Name">
    <vt:lpwstr>defa4170-0d19-0005-0004-bc88714345d2</vt:lpwstr>
  </property>
  <property fmtid="{D5CDD505-2E9C-101B-9397-08002B2CF9AE}" pid="7" name="MSIP_Label_2ad0b24d-6422-44b0-b3de-abb3a9e8c81a_SiteId">
    <vt:lpwstr>2fcfe26a-bb62-46b0-b1e3-28f9da0c45fd</vt:lpwstr>
  </property>
  <property fmtid="{D5CDD505-2E9C-101B-9397-08002B2CF9AE}" pid="8" name="MSIP_Label_2ad0b24d-6422-44b0-b3de-abb3a9e8c81a_ActionId">
    <vt:lpwstr>8dcef56f-7358-4653-a632-e363b9a7fe78</vt:lpwstr>
  </property>
  <property fmtid="{D5CDD505-2E9C-101B-9397-08002B2CF9AE}" pid="9" name="MSIP_Label_2ad0b24d-6422-44b0-b3de-abb3a9e8c81a_ContentBits">
    <vt:lpwstr>0</vt:lpwstr>
  </property>
  <property fmtid="{D5CDD505-2E9C-101B-9397-08002B2CF9AE}" pid="10" name="MSIP_Label_2ad0b24d-6422-44b0-b3de-abb3a9e8c81a_Tag">
    <vt:lpwstr>10, 3, 0, 1</vt:lpwstr>
  </property>
</Properties>
</file>